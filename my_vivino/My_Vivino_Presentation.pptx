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  <p:embeddedFont>
      <p:font typeface="Open Sans ExtraBold"/>
      <p:bold r:id="rId19"/>
      <p:boldItalic r:id="rId20"/>
    </p:embeddedFont>
    <p:embeddedFont>
      <p:font typeface="Open Sans Medium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ExtraBold-boldItalic.fntdata"/><Relationship Id="rId22" Type="http://schemas.openxmlformats.org/officeDocument/2006/relationships/font" Target="fonts/OpenSansMedium-bold.fntdata"/><Relationship Id="rId21" Type="http://schemas.openxmlformats.org/officeDocument/2006/relationships/font" Target="fonts/OpenSansMedium-regular.fntdata"/><Relationship Id="rId24" Type="http://schemas.openxmlformats.org/officeDocument/2006/relationships/font" Target="fonts/OpenSansMedium-boldItalic.fntdata"/><Relationship Id="rId23" Type="http://schemas.openxmlformats.org/officeDocument/2006/relationships/font" Target="fonts/OpenSa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19" Type="http://schemas.openxmlformats.org/officeDocument/2006/relationships/font" Target="fonts/OpenSansExtraBold-bold.fntdata"/><Relationship Id="rId18" Type="http://schemas.openxmlformats.org/officeDocument/2006/relationships/font" Target="fonts/La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857d64e3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857d64e3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35a472d3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35a472d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8a3fd49a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8a3fd49a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8a3fd49a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8a3fd49a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33950" y="556225"/>
            <a:ext cx="8520600" cy="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 ExtraBold"/>
                <a:ea typeface="Open Sans ExtraBold"/>
                <a:cs typeface="Open Sans ExtraBold"/>
                <a:sym typeface="Open Sans ExtraBold"/>
              </a:rPr>
              <a:t>My Vivino — Data-Driven Wine Recommendation System</a:t>
            </a:r>
            <a:endParaRPr sz="2000"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0" y="1294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Replacing a rules-based engine with scalable machine learning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8550" y="2633700"/>
            <a:ext cx="906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Prepared By</a:t>
            </a:r>
            <a:endParaRPr sz="18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Sinchana Rai &amp; Khagendra Adhikari</a:t>
            </a:r>
            <a:endParaRPr sz="18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Qwasar Silicon Valley</a:t>
            </a:r>
            <a:endParaRPr sz="1800">
              <a:solidFill>
                <a:schemeClr val="dk2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756750" y="4681800"/>
            <a:ext cx="429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February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4, 2026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7650" y="6697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Business Problem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662025" y="1454475"/>
            <a:ext cx="8010900" cy="12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pen Sans"/>
                <a:ea typeface="Open Sans"/>
                <a:cs typeface="Open Sans"/>
                <a:sym typeface="Open Sans"/>
              </a:rPr>
              <a:t>The Challenge:</a:t>
            </a:r>
            <a:endParaRPr b="1" sz="14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pen Sans Medium"/>
              <a:buChar char="●"/>
            </a:pPr>
            <a:r>
              <a:rPr lang="en" sz="1400">
                <a:latin typeface="Open Sans Medium"/>
                <a:ea typeface="Open Sans Medium"/>
                <a:cs typeface="Open Sans Medium"/>
                <a:sym typeface="Open Sans Medium"/>
              </a:rPr>
              <a:t>My Vivino serves thousands of wines to a large user base</a:t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</a:pPr>
            <a:r>
              <a:rPr lang="en" sz="1400">
                <a:latin typeface="Open Sans Medium"/>
                <a:ea typeface="Open Sans Medium"/>
                <a:cs typeface="Open Sans Medium"/>
                <a:sym typeface="Open Sans Medium"/>
              </a:rPr>
              <a:t>Existing recommendations rely on static rules</a:t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</a:pPr>
            <a:r>
              <a:rPr lang="en" sz="1400">
                <a:latin typeface="Open Sans Medium"/>
                <a:ea typeface="Open Sans Medium"/>
                <a:cs typeface="Open Sans Medium"/>
                <a:sym typeface="Open Sans Medium"/>
              </a:rPr>
              <a:t>Limited personalization reduces engagement and discovery</a:t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865400" y="2877550"/>
            <a:ext cx="7884900" cy="10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pen Sans"/>
                <a:ea typeface="Open Sans"/>
                <a:cs typeface="Open Sans"/>
                <a:sym typeface="Open Sans"/>
              </a:rPr>
              <a:t>Objective</a:t>
            </a:r>
            <a:endParaRPr b="1"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Open Sans Medium"/>
                <a:ea typeface="Open Sans Medium"/>
                <a:cs typeface="Open Sans Medium"/>
                <a:sym typeface="Open Sans Medium"/>
              </a:rPr>
              <a:t>Develop a scalable recommendation system that leverages historical user behavior to deliver personalized wine suggestions.</a:t>
            </a:r>
            <a:endParaRPr sz="14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865400" y="4050725"/>
            <a:ext cx="7884900" cy="10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pen Sans"/>
                <a:ea typeface="Open Sans"/>
                <a:cs typeface="Open Sans"/>
                <a:sym typeface="Open Sans"/>
              </a:rPr>
              <a:t>Strategic Shift</a:t>
            </a:r>
            <a:endParaRPr b="1"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Open Sans Medium"/>
                <a:ea typeface="Open Sans Medium"/>
                <a:cs typeface="Open Sans Medium"/>
                <a:sym typeface="Open Sans Medium"/>
              </a:rPr>
              <a:t>Rules → Data → Personalization</a:t>
            </a:r>
            <a:endParaRPr sz="14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727650" y="6697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Dataset &amp; Modeling Rationale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662025" y="1634950"/>
            <a:ext cx="3238200" cy="17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pen Sans"/>
                <a:ea typeface="Open Sans"/>
                <a:cs typeface="Open Sans"/>
                <a:sym typeface="Open Sans"/>
              </a:rPr>
              <a:t>Dataset Overview — X-Wines</a:t>
            </a:r>
            <a:r>
              <a:rPr b="1" lang="en" sz="1400"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1" sz="14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pen Sans Medium"/>
              <a:buChar char="●"/>
            </a:pPr>
            <a:r>
              <a:rPr lang="en" sz="1400">
                <a:latin typeface="Open Sans Medium"/>
                <a:ea typeface="Open Sans Medium"/>
                <a:cs typeface="Open Sans Medium"/>
                <a:sym typeface="Open Sans Medium"/>
              </a:rPr>
              <a:t>1,007 wines</a:t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</a:pPr>
            <a:r>
              <a:rPr lang="en" sz="1400">
                <a:latin typeface="Open Sans Medium"/>
                <a:ea typeface="Open Sans Medium"/>
                <a:cs typeface="Open Sans Medium"/>
                <a:sym typeface="Open Sans Medium"/>
              </a:rPr>
              <a:t>10,561 users</a:t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</a:pPr>
            <a:r>
              <a:rPr lang="en" sz="1400">
                <a:latin typeface="Open Sans Medium"/>
                <a:ea typeface="Open Sans Medium"/>
                <a:cs typeface="Open Sans Medium"/>
                <a:sym typeface="Open Sans Medium"/>
              </a:rPr>
              <a:t>150,000 historical ratings</a:t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727650" y="3599200"/>
            <a:ext cx="8169000" cy="11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pen Sans"/>
                <a:ea typeface="Open Sans"/>
                <a:cs typeface="Open Sans"/>
                <a:sym typeface="Open Sans"/>
              </a:rPr>
              <a:t>Key Insight</a:t>
            </a:r>
            <a:endParaRPr b="1"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Open Sans Medium"/>
                <a:ea typeface="Open Sans Medium"/>
                <a:cs typeface="Open Sans Medium"/>
                <a:sym typeface="Open Sans Medium"/>
              </a:rPr>
              <a:t>The highly sparse user–item interaction matrix  motivates the use of matrix factorization–based collaborative filtering.</a:t>
            </a:r>
            <a:endParaRPr sz="14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05" name="Google Shape;105;p15" title="Numer_of_ratings_per_user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575" y="1457188"/>
            <a:ext cx="4138849" cy="206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662025" y="669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Examples</a:t>
            </a:r>
            <a:endParaRPr/>
          </a:p>
        </p:txBody>
      </p:sp>
      <p:pic>
        <p:nvPicPr>
          <p:cNvPr id="111" name="Google Shape;111;p16" title="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125" y="1255025"/>
            <a:ext cx="6127285" cy="3633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7198900" y="1894975"/>
            <a:ext cx="18651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What This Shows:</a:t>
            </a:r>
            <a:endParaRPr b="1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180340" lvl="0" marL="18288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Personalized discovery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180340" lvl="0" marL="18288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Context-aware suggestions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180340" lvl="0" marL="18288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Production-ready fallback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577750" y="627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Impact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818775" y="1535125"/>
            <a:ext cx="4002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Expected Impact</a:t>
            </a:r>
            <a:endParaRPr b="1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Improved recommendation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Increased user engagement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Higher conversion potential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Better product discovery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5063400" y="1594200"/>
            <a:ext cx="4080600" cy="14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Production Readiness</a:t>
            </a:r>
            <a:endParaRPr b="1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Modular pipeline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No data leakage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Robust cold-start strategy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Scalable architecture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1122950" y="3709750"/>
            <a:ext cx="7579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Strategic Value</a:t>
            </a:r>
            <a:endParaRPr b="1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Establishes the foundation for real-time personalization at scale.</a:t>
            </a:r>
            <a:endParaRPr>
              <a:solidFill>
                <a:schemeClr val="accen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